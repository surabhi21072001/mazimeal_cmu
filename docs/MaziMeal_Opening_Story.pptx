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b43aaf7-2aeb-1031-5bac-6e45d47c5abe}">
          <p14:sldIdLst>
            <p14:sldId id="256"/>
          </p14:sldIdLst>
        </p14:section>
        <p14:section name="The person" id="{4873327a-e6f9-1d43-8bef-1c13a069e8c6}">
          <p14:sldIdLst>
            <p14:sldId id="257"/>
          </p14:sldIdLst>
        </p14:section>
        <p14:section name="The recipe" id="{0ebea3ec-1548-2d8d-4cb9-882dd93e9c24}">
          <p14:sldIdLst>
            <p14:sldId id="258"/>
          </p14:sldIdLst>
        </p14:section>
        <p14:section name="The rules" id="{4349ce3a-d7a0-62df-1cbd-82038d892de2}">
          <p14:sldIdLst>
            <p14:sldId id="259"/>
          </p14:sldIdLst>
        </p14:section>
        <p14:section name="The engine" id="{129587b0-e54e-0bf1-1364-7bc15429cd1f}">
          <p14:sldIdLst>
            <p14:sldId id="260"/>
          </p14:sldIdLst>
        </p14:section>
        <p14:section name="The result" id="{24f96a4b-c4d1-7f83-7a08-62740304fa10}">
          <p14:sldIdLst>
            <p14:sldId id="261"/>
          </p14:sldIdLst>
        </p14:section>
        <p14:section name="Close" id="{47f2b534-836e-ec23-edcb-7b171903fdda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One sentence: every recipe on the internet is missing the part that decides how much nutrition you actually absorb. That missing part is what we are building.
Say up front: the data is illustrative, the rules are the client's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slide: personalisation starts before search. The target came from her health profile, not from a slider she moved.
Mention the peanut allergy now - it comes back as the first thing the engine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step 2 aloud. Garlic goes straight from the board into the processor, and about ten minutes later into hot oil.
That is the gap the engine fills - and notice we are not changing a single ingredient.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rules fire on one ordinary recipe. Two of them need nothing changed - the engine just explains.
The fourth is the one worth pausing on: the rule itself tells us not to remove the yogurt. The engine's restraint is written into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 - it is the whole system in one line each.
Step 3 is the client's own field, automation_status. We did not invent the policy; we implement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story here. She did not get a different recipe; she got the same one, told properly.
The review flag is visible to the team, not to 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rules we hold ourselves to. They answer the question the client keeps asking: how do you stop an AI from making things up.
Then move into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 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7180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EAF1EC"/>
                </a:solidFill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EAF1EC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862D"/>
                </a:solidFill>
              </a:rPr>
              <a:t>MAZIMEAL V2  ·  OPENING STORY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the recipe doesn't say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9718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1EC"/>
                </a:solidFill>
              </a:rPr>
              <a:t>A plain recipe, a household that needs iron, and the research that nobody wrote into the instructions.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Maya, 12:30 on a Tuesday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71"/>
                </a:solidFill>
              </a:rPr>
              <a:t>She is 31. Her doctor flagged iron deficiency. Someone in her household is allergic to peanuts.</a:t>
            </a:r>
            <a:endParaRPr lang="en-US" sz="1400" dirty="0"/>
          </a:p>
        </p:txBody>
      </p:sp>
      <p:sp>
        <p:nvSpPr>
          <p:cNvPr id="4" name="stat 0"/>
          <p:cNvSpPr/>
          <p:nvPr/>
        </p:nvSpPr>
        <p:spPr>
          <a:xfrm>
            <a:off x="548640" y="16459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5" name="statvalue 0"/>
          <p:cNvSpPr txBox="1"/>
          <p:nvPr/>
        </p:nvSpPr>
        <p:spPr>
          <a:xfrm>
            <a:off x="749808" y="180136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A4F"/>
                </a:solidFill>
              </a:rPr>
              <a:t>27 mg</a:t>
            </a:r>
            <a:endParaRPr lang="en-US" sz="3600" dirty="0"/>
          </a:p>
        </p:txBody>
      </p:sp>
      <p:sp>
        <p:nvSpPr>
          <p:cNvPr id="6" name="statlabel 0"/>
          <p:cNvSpPr txBox="1"/>
          <p:nvPr/>
        </p:nvSpPr>
        <p:spPr>
          <a:xfrm>
            <a:off x="749808" y="238658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iron target today</a:t>
            </a:r>
            <a:endParaRPr lang="en-US" sz="1300" dirty="0"/>
          </a:p>
        </p:txBody>
      </p:sp>
      <p:sp>
        <p:nvSpPr>
          <p:cNvPr id="7" name="statsub 0"/>
          <p:cNvSpPr txBox="1"/>
          <p:nvPr/>
        </p:nvSpPr>
        <p:spPr>
          <a:xfrm>
            <a:off x="749808" y="26609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1"/>
                </a:solidFill>
              </a:rPr>
              <a:t>standard adult woman: 18 mg</a:t>
            </a:r>
            <a:endParaRPr lang="en-US" sz="1100" dirty="0"/>
          </a:p>
        </p:txBody>
      </p:sp>
      <p:sp>
        <p:nvSpPr>
          <p:cNvPr id="8" name="stat 1"/>
          <p:cNvSpPr/>
          <p:nvPr/>
        </p:nvSpPr>
        <p:spPr>
          <a:xfrm>
            <a:off x="3291840" y="16459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9" name="statvalue 1"/>
          <p:cNvSpPr txBox="1"/>
          <p:nvPr/>
        </p:nvSpPr>
        <p:spPr>
          <a:xfrm>
            <a:off x="3493008" y="180136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A4F"/>
                </a:solidFill>
              </a:rPr>
              <a:t>3.1 mg</a:t>
            </a:r>
            <a:endParaRPr lang="en-US" sz="3600" dirty="0"/>
          </a:p>
        </p:txBody>
      </p:sp>
      <p:sp>
        <p:nvSpPr>
          <p:cNvPr id="10" name="statlabel 1"/>
          <p:cNvSpPr txBox="1"/>
          <p:nvPr/>
        </p:nvSpPr>
        <p:spPr>
          <a:xfrm>
            <a:off x="3493008" y="238658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eaten so far</a:t>
            </a:r>
            <a:endParaRPr lang="en-US" sz="1300" dirty="0"/>
          </a:p>
        </p:txBody>
      </p:sp>
      <p:sp>
        <p:nvSpPr>
          <p:cNvPr id="11" name="statsub 1"/>
          <p:cNvSpPr txBox="1"/>
          <p:nvPr/>
        </p:nvSpPr>
        <p:spPr>
          <a:xfrm>
            <a:off x="3493008" y="26609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1"/>
                </a:solidFill>
              </a:rPr>
              <a:t>breakfast and a coffee</a:t>
            </a:r>
            <a:endParaRPr lang="en-US" sz="1100" dirty="0"/>
          </a:p>
        </p:txBody>
      </p:sp>
      <p:sp>
        <p:nvSpPr>
          <p:cNvPr id="12" name="stat 2"/>
          <p:cNvSpPr/>
          <p:nvPr/>
        </p:nvSpPr>
        <p:spPr>
          <a:xfrm>
            <a:off x="6035040" y="16459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13" name="statvalue 2"/>
          <p:cNvSpPr txBox="1"/>
          <p:nvPr/>
        </p:nvSpPr>
        <p:spPr>
          <a:xfrm>
            <a:off x="6236208" y="180136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A4F"/>
                </a:solidFill>
              </a:rPr>
              <a:t>1,480</a:t>
            </a:r>
            <a:endParaRPr lang="en-US" sz="3600" dirty="0"/>
          </a:p>
        </p:txBody>
      </p:sp>
      <p:sp>
        <p:nvSpPr>
          <p:cNvPr id="14" name="statlabel 2"/>
          <p:cNvSpPr txBox="1"/>
          <p:nvPr/>
        </p:nvSpPr>
        <p:spPr>
          <a:xfrm>
            <a:off x="6236208" y="238658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kcal left today</a:t>
            </a:r>
            <a:endParaRPr lang="en-US" sz="1300" dirty="0"/>
          </a:p>
        </p:txBody>
      </p:sp>
      <p:sp>
        <p:nvSpPr>
          <p:cNvPr id="15" name="statsub 2"/>
          <p:cNvSpPr txBox="1"/>
          <p:nvPr/>
        </p:nvSpPr>
        <p:spPr>
          <a:xfrm>
            <a:off x="6236208" y="26609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1"/>
                </a:solidFill>
              </a:rPr>
              <a:t>of 2,000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564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Her target is not the standard one. Her condition raised it from 18 mg to 27 mg before a single recipe was considered.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recipe, as written</a:t>
            </a:r>
            <a:endParaRPr lang="en-US" sz="3000" dirty="0"/>
          </a:p>
        </p:txBody>
      </p:sp>
      <p:sp>
        <p:nvSpPr>
          <p:cNvPr id="3" name="ingredients panel"/>
          <p:cNvSpPr/>
          <p:nvPr/>
        </p:nvSpPr>
        <p:spPr>
          <a:xfrm>
            <a:off x="548640" y="1188720"/>
            <a:ext cx="3749040" cy="2514600"/>
          </a:xfrm>
          <a:prstGeom prst="roundRect">
            <a:avLst>
              <a:gd name="adj" fmla="val 2182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49808" y="1335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Falafel with herbed cucumber yogurt</a:t>
            </a:r>
            <a:endParaRPr lang="en-US" sz="1300" dirty="0"/>
          </a:p>
        </p:txBody>
      </p:sp>
      <p:sp>
        <p:nvSpPr>
          <p:cNvPr id="5" name="ingredient list"/>
          <p:cNvSpPr txBox="1"/>
          <p:nvPr/>
        </p:nvSpPr>
        <p:spPr>
          <a:xfrm>
            <a:off x="749808" y="169164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chickpeas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garlic, scallions, cilantro, mint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lemon juice, chopped tomato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olive oil, cumin, salt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plain low-fat yogurt, cucumber</a:t>
            </a:r>
            <a:endParaRPr lang="en-US" sz="1200" dirty="0"/>
          </a:p>
        </p:txBody>
      </p:sp>
      <p:sp>
        <p:nvSpPr>
          <p:cNvPr id="6" name="steps panel"/>
          <p:cNvSpPr/>
          <p:nvPr/>
        </p:nvSpPr>
        <p:spPr>
          <a:xfrm>
            <a:off x="4846320" y="1188720"/>
            <a:ext cx="3749040" cy="2514600"/>
          </a:xfrm>
          <a:prstGeom prst="roundRect">
            <a:avLst>
              <a:gd name="adj" fmla="val 2182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47488" y="1335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Two of its ten steps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47488" y="1719072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A4F"/>
                </a:solidFill>
              </a:rPr>
              <a:t>2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 the scallions, garlic, cilantro and mint to the food processor.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47488" y="2450592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A4F"/>
                </a:solidFill>
              </a:rPr>
              <a:t>7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Fry the patties about 4 minutes on each side until golden.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502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6A4F"/>
                </a:solidFill>
              </a:rPr>
              <a:t>Nothing here is wrong. The recipe simply never says what it knows.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research knows</a:t>
            </a:r>
            <a:endParaRPr lang="en-US" sz="3000" dirty="0"/>
          </a:p>
        </p:txBody>
      </p:sp>
      <p:sp>
        <p:nvSpPr>
          <p:cNvPr id="3" name="rule SYN-001"/>
          <p:cNvSpPr/>
          <p:nvPr/>
        </p:nvSpPr>
        <p:spPr>
          <a:xfrm>
            <a:off x="548640" y="118872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4" name="chip SYN-001"/>
          <p:cNvSpPr txBox="1"/>
          <p:nvPr/>
        </p:nvSpPr>
        <p:spPr>
          <a:xfrm>
            <a:off x="749808" y="1344168"/>
            <a:ext cx="713232" cy="237744"/>
          </a:xfrm>
          <a:prstGeom prst="roundRect">
            <a:avLst>
              <a:gd name="adj" fmla="val 34615"/>
            </a:avLst>
          </a:prstGeom>
          <a:solidFill>
            <a:srgbClr val="2F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SYN-001</a:t>
            </a:r>
            <a:endParaRPr lang="en-US" sz="900" dirty="0"/>
          </a:p>
        </p:txBody>
      </p:sp>
      <p:sp>
        <p:nvSpPr>
          <p:cNvPr id="5" name="chip evidence A"/>
          <p:cNvSpPr txBox="1"/>
          <p:nvPr/>
        </p:nvSpPr>
        <p:spPr>
          <a:xfrm>
            <a:off x="1517904" y="1344168"/>
            <a:ext cx="1042416" cy="237744"/>
          </a:xfrm>
          <a:prstGeom prst="roundRect">
            <a:avLst>
              <a:gd name="adj" fmla="val 34615"/>
            </a:avLst>
          </a:prstGeom>
          <a:solidFill>
            <a:srgbClr val="6E7A7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 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64592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Vitamin C with plant iron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90195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1"/>
                </a:solidFill>
              </a:rPr>
              <a:t>Already true here: lemon and tomato sit beside the chickpeas.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194560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A4F"/>
                </a:solidFill>
              </a:rPr>
              <a:t>Explain it to her.</a:t>
            </a:r>
            <a:endParaRPr lang="en-US" sz="1100" dirty="0"/>
          </a:p>
        </p:txBody>
      </p:sp>
      <p:sp>
        <p:nvSpPr>
          <p:cNvPr id="9" name="rule BIO-002"/>
          <p:cNvSpPr/>
          <p:nvPr/>
        </p:nvSpPr>
        <p:spPr>
          <a:xfrm>
            <a:off x="4846320" y="118872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10" name="chip BIO-002"/>
          <p:cNvSpPr txBox="1"/>
          <p:nvPr/>
        </p:nvSpPr>
        <p:spPr>
          <a:xfrm>
            <a:off x="5047488" y="1344168"/>
            <a:ext cx="713232" cy="237744"/>
          </a:xfrm>
          <a:prstGeom prst="roundRect">
            <a:avLst>
              <a:gd name="adj" fmla="val 34615"/>
            </a:avLst>
          </a:prstGeom>
          <a:solidFill>
            <a:srgbClr val="B786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BIO-002</a:t>
            </a:r>
            <a:endParaRPr lang="en-US" sz="900" dirty="0"/>
          </a:p>
        </p:txBody>
      </p:sp>
      <p:sp>
        <p:nvSpPr>
          <p:cNvPr id="11" name="chip recipe safe"/>
          <p:cNvSpPr txBox="1"/>
          <p:nvPr/>
        </p:nvSpPr>
        <p:spPr>
          <a:xfrm>
            <a:off x="5815584" y="1344168"/>
            <a:ext cx="1042416" cy="237744"/>
          </a:xfrm>
          <a:prstGeom prst="roundRect">
            <a:avLst>
              <a:gd name="adj" fmla="val 34615"/>
            </a:avLst>
          </a:prstGeom>
          <a:solidFill>
            <a:srgbClr val="6E7A7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recipe safe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64592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Crush garlic, then wait 10 minutes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190195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1"/>
                </a:solidFill>
              </a:rPr>
              <a:t>The recipe sends garlic straight into the pan.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2194560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862D"/>
                </a:solidFill>
              </a:rPr>
              <a:t>Add one step.</a:t>
            </a:r>
            <a:endParaRPr lang="en-US" sz="1100" dirty="0"/>
          </a:p>
        </p:txBody>
      </p:sp>
      <p:sp>
        <p:nvSpPr>
          <p:cNvPr id="15" name="rule INH-001"/>
          <p:cNvSpPr/>
          <p:nvPr/>
        </p:nvSpPr>
        <p:spPr>
          <a:xfrm>
            <a:off x="548640" y="2670048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16" name="chip INH-001"/>
          <p:cNvSpPr txBox="1"/>
          <p:nvPr/>
        </p:nvSpPr>
        <p:spPr>
          <a:xfrm>
            <a:off x="749808" y="2825496"/>
            <a:ext cx="713232" cy="237744"/>
          </a:xfrm>
          <a:prstGeom prst="roundRect">
            <a:avLst>
              <a:gd name="adj" fmla="val 34615"/>
            </a:avLst>
          </a:prstGeom>
          <a:solidFill>
            <a:srgbClr val="4C95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INH-001</a:t>
            </a:r>
            <a:endParaRPr lang="en-US" sz="900" dirty="0"/>
          </a:p>
        </p:txBody>
      </p:sp>
      <p:sp>
        <p:nvSpPr>
          <p:cNvPr id="17" name="chip instruction"/>
          <p:cNvSpPr txBox="1"/>
          <p:nvPr/>
        </p:nvSpPr>
        <p:spPr>
          <a:xfrm>
            <a:off x="1517904" y="2825496"/>
            <a:ext cx="1042416" cy="237744"/>
          </a:xfrm>
          <a:prstGeom prst="roundRect">
            <a:avLst>
              <a:gd name="adj" fmla="val 34615"/>
            </a:avLst>
          </a:prstGeom>
          <a:solidFill>
            <a:srgbClr val="6E7A7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instruction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12724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tea or coffee with an iron meal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38328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1"/>
                </a:solidFill>
              </a:rPr>
              <a:t>Polyphenols bind the iron she is trying to absorb.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67588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56C"/>
                </a:solidFill>
              </a:rPr>
              <a:t>Add a serving note.</a:t>
            </a:r>
            <a:endParaRPr lang="en-US" sz="1100" dirty="0"/>
          </a:p>
        </p:txBody>
      </p:sp>
      <p:sp>
        <p:nvSpPr>
          <p:cNvPr id="21" name="rule INH-003"/>
          <p:cNvSpPr/>
          <p:nvPr/>
        </p:nvSpPr>
        <p:spPr>
          <a:xfrm>
            <a:off x="4846320" y="2670048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22" name="chip INH-003"/>
          <p:cNvSpPr txBox="1"/>
          <p:nvPr/>
        </p:nvSpPr>
        <p:spPr>
          <a:xfrm>
            <a:off x="5047488" y="2825496"/>
            <a:ext cx="713232" cy="237744"/>
          </a:xfrm>
          <a:prstGeom prst="roundRect">
            <a:avLst>
              <a:gd name="adj" fmla="val 34615"/>
            </a:avLst>
          </a:prstGeom>
          <a:solidFill>
            <a:srgbClr val="C55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INH-003</a:t>
            </a:r>
            <a:endParaRPr lang="en-US" sz="900" dirty="0"/>
          </a:p>
        </p:txBody>
      </p:sp>
      <p:sp>
        <p:nvSpPr>
          <p:cNvPr id="23" name="chip needs a person"/>
          <p:cNvSpPr txBox="1"/>
          <p:nvPr/>
        </p:nvSpPr>
        <p:spPr>
          <a:xfrm>
            <a:off x="5815584" y="2825496"/>
            <a:ext cx="1042416" cy="237744"/>
          </a:xfrm>
          <a:prstGeom prst="roundRect">
            <a:avLst>
              <a:gd name="adj" fmla="val 34615"/>
            </a:avLst>
          </a:prstGeom>
          <a:solidFill>
            <a:srgbClr val="6E7A7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needs a person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47488" y="3127248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Calcium sits next to iron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47488" y="3383280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1"/>
                </a:solidFill>
              </a:rPr>
              <a:t>The yogurt sauce is the dish. The rule says do not strip it out.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367588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B4A"/>
                </a:solidFill>
              </a:rPr>
              <a:t>Send it to a reviewer.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1"/>
                </a:solidFill>
              </a:rPr>
              <a:t>54 rules from the client's database. Each carries a source, an evidence tier, and a ruling on whether a machine may act on it alone.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engine, in five moves</a:t>
            </a:r>
            <a:endParaRPr lang="en-US" sz="3000" dirty="0"/>
          </a:p>
        </p:txBody>
      </p:sp>
      <p:sp>
        <p:nvSpPr>
          <p:cNvPr id="3" name="move 1"/>
          <p:cNvSpPr/>
          <p:nvPr/>
        </p:nvSpPr>
        <p:spPr>
          <a:xfrm>
            <a:off x="548640" y="1325880"/>
            <a:ext cx="1490472" cy="2377440"/>
          </a:xfrm>
          <a:prstGeom prst="roundRect">
            <a:avLst>
              <a:gd name="adj" fmla="val 3681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4" name="movecircle 1"/>
          <p:cNvSpPr/>
          <p:nvPr/>
        </p:nvSpPr>
        <p:spPr>
          <a:xfrm>
            <a:off x="731520" y="1481328"/>
            <a:ext cx="384048" cy="38404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568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9424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71"/>
                </a:solidFill>
              </a:rPr>
              <a:t>Allergies and medical limits first. Peanut recipes never reach her.</a:t>
            </a:r>
            <a:endParaRPr lang="en-US" sz="1050" dirty="0"/>
          </a:p>
        </p:txBody>
      </p:sp>
      <p:sp>
        <p:nvSpPr>
          <p:cNvPr id="8" name="move 2"/>
          <p:cNvSpPr/>
          <p:nvPr/>
        </p:nvSpPr>
        <p:spPr>
          <a:xfrm>
            <a:off x="2185416" y="1325880"/>
            <a:ext cx="1490472" cy="2377440"/>
          </a:xfrm>
          <a:prstGeom prst="roundRect">
            <a:avLst>
              <a:gd name="adj" fmla="val 3681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9" name="movecircle 2"/>
          <p:cNvSpPr/>
          <p:nvPr/>
        </p:nvSpPr>
        <p:spPr>
          <a:xfrm>
            <a:off x="2368296" y="1481328"/>
            <a:ext cx="384048" cy="38404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6829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368296" y="19568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68296" y="2249424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71"/>
                </a:solidFill>
              </a:rPr>
              <a:t>Ingredients carry codes. Garlic is ING_GARLIC; chickpeas are plant iron.</a:t>
            </a:r>
            <a:endParaRPr lang="en-US" sz="1050" dirty="0"/>
          </a:p>
        </p:txBody>
      </p:sp>
      <p:sp>
        <p:nvSpPr>
          <p:cNvPr id="13" name="move 3"/>
          <p:cNvSpPr/>
          <p:nvPr/>
        </p:nvSpPr>
        <p:spPr>
          <a:xfrm>
            <a:off x="3822192" y="1325880"/>
            <a:ext cx="1490472" cy="2377440"/>
          </a:xfrm>
          <a:prstGeom prst="roundRect">
            <a:avLst>
              <a:gd name="adj" fmla="val 3681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14" name="movecircle 3"/>
          <p:cNvSpPr/>
          <p:nvPr/>
        </p:nvSpPr>
        <p:spPr>
          <a:xfrm>
            <a:off x="4005072" y="1481328"/>
            <a:ext cx="384048" cy="38404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0507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05072" y="19568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Decide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2249424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71"/>
                </a:solidFill>
              </a:rPr>
              <a:t>The rule says who may act: the engine, or a human reviewer.</a:t>
            </a:r>
            <a:endParaRPr lang="en-US" sz="1050" dirty="0"/>
          </a:p>
        </p:txBody>
      </p:sp>
      <p:sp>
        <p:nvSpPr>
          <p:cNvPr id="18" name="move 4"/>
          <p:cNvSpPr/>
          <p:nvPr/>
        </p:nvSpPr>
        <p:spPr>
          <a:xfrm>
            <a:off x="5458968" y="1325880"/>
            <a:ext cx="1490472" cy="2377440"/>
          </a:xfrm>
          <a:prstGeom prst="roundRect">
            <a:avLst>
              <a:gd name="adj" fmla="val 3681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19" name="movecircle 4"/>
          <p:cNvSpPr/>
          <p:nvPr/>
        </p:nvSpPr>
        <p:spPr>
          <a:xfrm>
            <a:off x="5641848" y="1481328"/>
            <a:ext cx="384048" cy="38404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4184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41848" y="19568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41848" y="2249424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71"/>
                </a:solidFill>
              </a:rPr>
              <a:t>Check what is left of today's calories. Adjust the portion, not the dish.</a:t>
            </a:r>
            <a:endParaRPr lang="en-US" sz="1050" dirty="0"/>
          </a:p>
        </p:txBody>
      </p:sp>
      <p:sp>
        <p:nvSpPr>
          <p:cNvPr id="23" name="move 5"/>
          <p:cNvSpPr/>
          <p:nvPr/>
        </p:nvSpPr>
        <p:spPr>
          <a:xfrm>
            <a:off x="7095744" y="1325880"/>
            <a:ext cx="1490472" cy="2377440"/>
          </a:xfrm>
          <a:prstGeom prst="roundRect">
            <a:avLst>
              <a:gd name="adj" fmla="val 3681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24" name="movecircle 5"/>
          <p:cNvSpPr/>
          <p:nvPr/>
        </p:nvSpPr>
        <p:spPr>
          <a:xfrm>
            <a:off x="7278624" y="1481328"/>
            <a:ext cx="384048" cy="38404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78624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78624" y="19568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78624" y="2249424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71"/>
                </a:solidFill>
              </a:rPr>
              <a:t>Rule, before, after, reason, source. Every change can be traced back.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9502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6A4F"/>
                </a:solidFill>
              </a:rPr>
              <a:t>The dish is never swapped for another. One step was added; nothing was taken away.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Maya sees</a:t>
            </a:r>
            <a:endParaRPr lang="en-US" sz="3000" dirty="0"/>
          </a:p>
        </p:txBody>
      </p:sp>
      <p:sp>
        <p:nvSpPr>
          <p:cNvPr id="3" name="step card"/>
          <p:cNvSpPr/>
          <p:nvPr/>
        </p:nvSpPr>
        <p:spPr>
          <a:xfrm>
            <a:off x="548640" y="118872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4" name="chip BIO-002"/>
          <p:cNvSpPr txBox="1"/>
          <p:nvPr/>
        </p:nvSpPr>
        <p:spPr>
          <a:xfrm>
            <a:off x="749808" y="1371600"/>
            <a:ext cx="713232" cy="237744"/>
          </a:xfrm>
          <a:prstGeom prst="roundRect">
            <a:avLst>
              <a:gd name="adj" fmla="val 34615"/>
            </a:avLst>
          </a:prstGeom>
          <a:solidFill>
            <a:srgbClr val="B786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BIO-002</a:t>
            </a:r>
            <a:endParaRPr lang="en-US" sz="900" dirty="0"/>
          </a:p>
        </p:txBody>
      </p:sp>
      <p:sp>
        <p:nvSpPr>
          <p:cNvPr id="5" name="chip evidence B"/>
          <p:cNvSpPr txBox="1"/>
          <p:nvPr/>
        </p:nvSpPr>
        <p:spPr>
          <a:xfrm>
            <a:off x="1517904" y="1371600"/>
            <a:ext cx="914400" cy="237744"/>
          </a:xfrm>
          <a:prstGeom prst="roundRect">
            <a:avLst>
              <a:gd name="adj" fmla="val 34615"/>
            </a:avLst>
          </a:prstGeom>
          <a:solidFill>
            <a:srgbClr val="6E7A7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 B</a:t>
            </a:r>
            <a:endParaRPr lang="en-US" sz="900" dirty="0"/>
          </a:p>
        </p:txBody>
      </p:sp>
      <p:sp>
        <p:nvSpPr>
          <p:cNvPr id="6" name="chip added by the engine"/>
          <p:cNvSpPr txBox="1"/>
          <p:nvPr/>
        </p:nvSpPr>
        <p:spPr>
          <a:xfrm>
            <a:off x="2487168" y="1371600"/>
            <a:ext cx="1371600" cy="237744"/>
          </a:xfrm>
          <a:prstGeom prst="roundRect">
            <a:avLst>
              <a:gd name="adj" fmla="val 34615"/>
            </a:avLst>
          </a:prstGeom>
          <a:solidFill>
            <a:srgbClr val="B786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added by the engine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682496"/>
            <a:ext cx="4626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Step 2 · Crush the garlic, then wait 10 minutes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67712"/>
            <a:ext cx="4626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71"/>
                </a:solidFill>
              </a:rPr>
              <a:t>Crushing starts the reaction that forms allicin. Heat it too soon and the reaction stops before it begins.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6A4F"/>
                </a:solidFill>
              </a:rPr>
              <a:t>Everything else about the recipe is untouched.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12724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71"/>
                </a:solidFill>
              </a:rPr>
              <a:t>Source: controlled food-processing study, linked in the card.</a:t>
            </a:r>
            <a:endParaRPr lang="en-US" sz="1000" dirty="0"/>
          </a:p>
        </p:txBody>
      </p:sp>
      <p:sp>
        <p:nvSpPr>
          <p:cNvPr id="11" name="iron result"/>
          <p:cNvSpPr/>
          <p:nvPr/>
        </p:nvSpPr>
        <p:spPr>
          <a:xfrm>
            <a:off x="5852160" y="118872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053328" y="129844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A4F"/>
                </a:solidFill>
              </a:rPr>
              <a:t>25%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053328" y="175564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today's iron gap, in one serving</a:t>
            </a:r>
            <a:endParaRPr lang="en-US" sz="1100" dirty="0"/>
          </a:p>
        </p:txBody>
      </p:sp>
      <p:sp>
        <p:nvSpPr>
          <p:cNvPr id="14" name="notes card"/>
          <p:cNvSpPr/>
          <p:nvPr/>
        </p:nvSpPr>
        <p:spPr>
          <a:xfrm>
            <a:off x="5852160" y="237744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EAF1EC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27000" dist="25400" dir="5400000">
              <a:srgbClr val="15302A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053328" y="248716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Also on the card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274320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E7A71"/>
                </a:solidFill>
              </a:rPr>
              <a:t>Skip the tea with this meal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E7A71"/>
                </a:solidFill>
              </a:rPr>
              <a:t>Yogurt sauce flagged for review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Same dish, same ingredients, one more line of guidance - and a reason she can check.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We don't invent the science. We attach it to the step where it matters.</a:t>
            </a:r>
            <a:endParaRPr lang="en-US" sz="3400" dirty="0"/>
          </a:p>
        </p:txBody>
      </p:sp>
      <p:sp>
        <p:nvSpPr>
          <p:cNvPr id="3" name="dot 0"/>
          <p:cNvSpPr/>
          <p:nvPr/>
        </p:nvSpPr>
        <p:spPr>
          <a:xfrm>
            <a:off x="658368" y="3099816"/>
            <a:ext cx="109728" cy="109728"/>
          </a:xfrm>
          <a:prstGeom prst="ellipse">
            <a:avLst/>
          </a:prstGeom>
          <a:solidFill>
            <a:srgbClr val="B7862D"/>
          </a:solidFill>
          <a:ln/>
        </p:spPr>
      </p:sp>
      <p:sp>
        <p:nvSpPr>
          <p:cNvPr id="4" name="closer 0"/>
          <p:cNvSpPr txBox="1"/>
          <p:nvPr/>
        </p:nvSpPr>
        <p:spPr>
          <a:xfrm>
            <a:off x="914400" y="30175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EC"/>
                </a:solidFill>
              </a:rPr>
              <a:t>Nutrition numbers come from USDA data, never from the model.</a:t>
            </a:r>
            <a:endParaRPr lang="en-US" sz="1400" dirty="0"/>
          </a:p>
        </p:txBody>
      </p:sp>
      <p:sp>
        <p:nvSpPr>
          <p:cNvPr id="5" name="dot 1"/>
          <p:cNvSpPr/>
          <p:nvPr/>
        </p:nvSpPr>
        <p:spPr>
          <a:xfrm>
            <a:off x="658368" y="3502152"/>
            <a:ext cx="109728" cy="109728"/>
          </a:xfrm>
          <a:prstGeom prst="ellipse">
            <a:avLst/>
          </a:prstGeom>
          <a:solidFill>
            <a:srgbClr val="B7862D"/>
          </a:solidFill>
          <a:ln/>
        </p:spPr>
      </p:sp>
      <p:sp>
        <p:nvSpPr>
          <p:cNvPr id="6" name="closer 1"/>
          <p:cNvSpPr txBox="1"/>
          <p:nvPr/>
        </p:nvSpPr>
        <p:spPr>
          <a:xfrm>
            <a:off x="914400" y="341985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EC"/>
                </a:solidFill>
              </a:rPr>
              <a:t>Every change names the rule it came from and the study behind it.</a:t>
            </a:r>
            <a:endParaRPr lang="en-US" sz="1400" dirty="0"/>
          </a:p>
        </p:txBody>
      </p:sp>
      <p:sp>
        <p:nvSpPr>
          <p:cNvPr id="7" name="dot 2"/>
          <p:cNvSpPr/>
          <p:nvPr/>
        </p:nvSpPr>
        <p:spPr>
          <a:xfrm>
            <a:off x="658368" y="3904488"/>
            <a:ext cx="109728" cy="109728"/>
          </a:xfrm>
          <a:prstGeom prst="ellipse">
            <a:avLst/>
          </a:prstGeom>
          <a:solidFill>
            <a:srgbClr val="B7862D"/>
          </a:solidFill>
          <a:ln/>
        </p:spPr>
      </p:sp>
      <p:sp>
        <p:nvSpPr>
          <p:cNvPr id="8" name="closer 2"/>
          <p:cNvSpPr txBox="1"/>
          <p:nvPr/>
        </p:nvSpPr>
        <p:spPr>
          <a:xfrm>
            <a:off x="914400" y="3822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EC"/>
                </a:solidFill>
              </a:rPr>
              <a:t>Anything uncertain goes to a person before it reaches a kitchen.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640080" y="29718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ziMeal Story">
  <a:themeElements>
    <a:clrScheme name="MaziMeal Story">
      <a:dk1>
        <a:srgbClr val="15302A"/>
      </a:dk1>
      <a:lt1>
        <a:srgbClr val="FFFFFF"/>
      </a:lt1>
      <a:dk2>
        <a:srgbClr val="2F6A4F"/>
      </a:dk2>
      <a:lt2>
        <a:srgbClr val="EAF1EC"/>
      </a:lt2>
      <a:accent1>
        <a:srgbClr val="2F6A4F"/>
      </a:accent1>
      <a:accent2>
        <a:srgbClr val="B7862D"/>
      </a:accent2>
      <a:accent3>
        <a:srgbClr val="C55B4A"/>
      </a:accent3>
      <a:accent4>
        <a:srgbClr val="4C956C"/>
      </a:accent4>
      <a:accent5>
        <a:srgbClr val="6E7A71"/>
      </a:accent5>
      <a:accent6>
        <a:srgbClr val="9FB3A6"/>
      </a:accent6>
      <a:hlink>
        <a:srgbClr val="2F6A4F"/>
      </a:hlink>
      <a:folHlink>
        <a:srgbClr val="4C956C"/>
      </a:folHlink>
    </a:clrScheme>
    <a:fontScheme name="MaziMeal Sto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the recipe doesn't say</dc:title>
  <dc:subject>MaziMeal V2 opening story</dc:subject>
  <dc:creator>PptxGenJS</dc:creator>
  <cp:lastModifiedBy>PptxGenJS</cp:lastModifiedBy>
  <cp:revision>1</cp:revision>
  <dcterms:created xsi:type="dcterms:W3CDTF">2026-10-02T20:14:40Z</dcterms:created>
  <dcterms:modified xsi:type="dcterms:W3CDTF">2026-10-02T20:14:40Z</dcterms:modified>
</cp:coreProperties>
</file>